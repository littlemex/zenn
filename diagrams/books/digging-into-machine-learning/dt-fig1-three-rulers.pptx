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31800"/>
            <a:ext cx="11176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同じ応答を 3 つの物差しで測る (約束は TPOT 30 ms)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8000" y="1041400"/>
            <a:ext cx="11176000" cy="1524000"/>
          </a:xfrm>
          <a:prstGeom prst="roundRect">
            <a:avLst>
              <a:gd name="adj" fmla="val 6000"/>
            </a:avLst>
          </a:prstGeom>
          <a:solidFill>
            <a:srgbClr val="14171D"/>
          </a:solidFill>
          <a:ln w="25400">
            <a:solidFill>
              <a:srgbClr val="50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68400"/>
            <a:ext cx="10820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 つの応答の、トークンとトークンの間隔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60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192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224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256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20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352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384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41600" y="1651000"/>
            <a:ext cx="139700" cy="711200"/>
          </a:xfrm>
          <a:prstGeom prst="rect">
            <a:avLst/>
          </a:prstGeom>
          <a:solidFill>
            <a:srgbClr val="DC2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448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480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512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44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608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640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72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704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36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768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800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832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0" y="1651000"/>
            <a:ext cx="139700" cy="711200"/>
          </a:xfrm>
          <a:prstGeom prst="rect">
            <a:avLst/>
          </a:prstGeom>
          <a:solidFill>
            <a:srgbClr val="DC2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896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28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992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024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056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088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120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184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216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248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312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344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376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40800" y="1651000"/>
            <a:ext cx="139700" cy="711200"/>
          </a:xfrm>
          <a:prstGeom prst="rect">
            <a:avLst/>
          </a:prstGeom>
          <a:solidFill>
            <a:srgbClr val="DC2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472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504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536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568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1600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3632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5664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7696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9728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176000" y="2235200"/>
            <a:ext cx="139700" cy="127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28000" y="1422400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DC2658"/>
                </a:solidFill>
                <a:latin typeface="Hiragino Sans"/>
                <a:ea typeface="Hiragino Sans"/>
                <a:cs typeface="Hiragino Sans"/>
              </a:rPr>
              <a:t>赤 = 約 408 ms の詰まり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8000" y="2819400"/>
            <a:ext cx="3556000" cy="2921000"/>
          </a:xfrm>
          <a:prstGeom prst="roundRect">
            <a:avLst>
              <a:gd name="adj" fmla="val 4347"/>
            </a:avLst>
          </a:prstGeom>
          <a:solidFill>
            <a:srgbClr val="14171D"/>
          </a:solidFill>
          <a:ln w="254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294640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BD332"/>
                </a:solidFill>
                <a:latin typeface="Hiragino Sans"/>
                <a:ea typeface="Hiragino Sans"/>
                <a:cs typeface="Hiragino Sans"/>
              </a:rPr>
              <a:t>応答の平均間隔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8000" y="35560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32.7 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000" y="4699000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わずかに超える程度に見える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000" y="5080000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18000" y="2819400"/>
            <a:ext cx="3556000" cy="2921000"/>
          </a:xfrm>
          <a:prstGeom prst="roundRect">
            <a:avLst>
              <a:gd name="adj" fmla="val 4347"/>
            </a:avLst>
          </a:prstGeom>
          <a:solidFill>
            <a:srgbClr val="14171D"/>
          </a:solidFill>
          <a:ln w="254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95800" y="294640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4A046"/>
                </a:solidFill>
                <a:latin typeface="Hiragino Sans"/>
                <a:ea typeface="Hiragino Sans"/>
                <a:cs typeface="Hiragino Sans"/>
              </a:rPr>
              <a:t>間隔そのものの p90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18000" y="35560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12.0 ms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45000" y="4699000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余裕で合格に見える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45000" y="5080000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詰まる間隔は全体の 5.7 %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28000" y="2819400"/>
            <a:ext cx="3556000" cy="2921000"/>
          </a:xfrm>
          <a:prstGeom prst="roundRect">
            <a:avLst>
              <a:gd name="adj" fmla="val 4347"/>
            </a:avLst>
          </a:prstGeom>
          <a:solidFill>
            <a:srgbClr val="14171D"/>
          </a:solidFill>
          <a:ln w="25400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05800" y="294640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DC2658"/>
                </a:solidFill>
                <a:latin typeface="Hiragino Sans"/>
                <a:ea typeface="Hiragino Sans"/>
                <a:cs typeface="Hiragino Sans"/>
              </a:rPr>
              <a:t>間隔そのものの p99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28000" y="35560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419 ms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55000" y="4699000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14 倍の違反がやっと見える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55000" y="5080000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08000" y="6070600"/>
            <a:ext cx="11176000" cy="0"/>
          </a:xfrm>
          <a:prstGeom prst="line">
            <a:avLst/>
          </a:prstGeom>
          <a:ln w="12700">
            <a:solidFill>
              <a:srgbClr val="3C3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08000" y="622300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割合は小さいが 1 回が致命的な詰まりは、分位点を 99 % まで上げないと見えない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