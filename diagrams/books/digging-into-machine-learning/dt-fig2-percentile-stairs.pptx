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431800"/>
            <a:ext cx="11176000" cy="431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判定の分位点だけを変えて、9 割が約束を守れる最大の到着率を測る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8000" y="1016000"/>
            <a:ext cx="11176000" cy="4826000"/>
          </a:xfrm>
          <a:prstGeom prst="roundRect">
            <a:avLst>
              <a:gd name="adj" fmla="val 2631"/>
            </a:avLst>
          </a:prstGeom>
          <a:solidFill>
            <a:srgbClr val="14171D"/>
          </a:solidFill>
          <a:ln w="25400">
            <a:solidFill>
              <a:srgbClr val="5050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1143000" y="4953000"/>
            <a:ext cx="10287000" cy="0"/>
          </a:xfrm>
          <a:prstGeom prst="line">
            <a:avLst/>
          </a:prstGeom>
          <a:ln w="12700">
            <a:solidFill>
              <a:srgbClr val="5A5C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143000" y="3852333"/>
            <a:ext cx="10287000" cy="0"/>
          </a:xfrm>
          <a:prstGeom prst="line">
            <a:avLst/>
          </a:prstGeom>
          <a:ln w="12700">
            <a:solidFill>
              <a:srgbClr val="2A2C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58800" y="3712633"/>
            <a:ext cx="508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1">
                <a:solidFill>
                  <a:srgbClr val="96969E"/>
                </a:solidFill>
                <a:latin typeface="Hiragino Sans"/>
                <a:ea typeface="Hiragino Sans"/>
                <a:cs typeface="Hiragino Sans"/>
              </a:rPr>
              <a:t>1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43000" y="2751666"/>
            <a:ext cx="10287000" cy="0"/>
          </a:xfrm>
          <a:prstGeom prst="line">
            <a:avLst/>
          </a:prstGeom>
          <a:ln w="12700">
            <a:solidFill>
              <a:srgbClr val="2A2C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58800" y="2611966"/>
            <a:ext cx="508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1">
                <a:solidFill>
                  <a:srgbClr val="96969E"/>
                </a:solidFill>
                <a:latin typeface="Hiragino Sans"/>
                <a:ea typeface="Hiragino Sans"/>
                <a:cs typeface="Hiragino Sans"/>
              </a:rPr>
              <a:t>2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143000" y="1651000"/>
            <a:ext cx="10287000" cy="0"/>
          </a:xfrm>
          <a:prstGeom prst="line">
            <a:avLst/>
          </a:prstGeom>
          <a:ln w="12700">
            <a:solidFill>
              <a:srgbClr val="2A2C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58800" y="1511300"/>
            <a:ext cx="508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1">
                <a:solidFill>
                  <a:srgbClr val="96969E"/>
                </a:solidFill>
                <a:latin typeface="Hiragino Sans"/>
                <a:ea typeface="Hiragino Sans"/>
                <a:cs typeface="Hiragino Sans"/>
              </a:rPr>
              <a:t>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24000" y="2575560"/>
            <a:ext cx="660400" cy="2377440"/>
          </a:xfrm>
          <a:prstGeom prst="rect">
            <a:avLst/>
          </a:prstGeom>
          <a:solidFill>
            <a:srgbClr val="EC72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60600" y="1730247"/>
            <a:ext cx="660400" cy="3222752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70000" y="2245360"/>
            <a:ext cx="11684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EC7211"/>
                </a:solidFill>
                <a:latin typeface="Hiragino Sans"/>
                <a:ea typeface="Hiragino Sans"/>
                <a:cs typeface="Hiragino Sans"/>
              </a:rPr>
              <a:t>2.16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70000" y="5054600"/>
            <a:ext cx="1905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p50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6000" y="5359400"/>
            <a:ext cx="2413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BD332"/>
                </a:solidFill>
                <a:latin typeface="Hiragino Sans"/>
                <a:ea typeface="Hiragino Sans"/>
                <a:cs typeface="Hiragino Sans"/>
              </a:rPr>
              <a:t>1.36 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92500" y="2970699"/>
            <a:ext cx="660400" cy="1982300"/>
          </a:xfrm>
          <a:prstGeom prst="rect">
            <a:avLst/>
          </a:prstGeom>
          <a:solidFill>
            <a:srgbClr val="EC72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29100" y="1730247"/>
            <a:ext cx="660400" cy="3222752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38500" y="2640499"/>
            <a:ext cx="11684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EC7211"/>
                </a:solidFill>
                <a:latin typeface="Hiragino Sans"/>
                <a:ea typeface="Hiragino Sans"/>
                <a:cs typeface="Hiragino Sans"/>
              </a:rPr>
              <a:t>1.80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38500" y="5054600"/>
            <a:ext cx="1905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p90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84500" y="5359400"/>
            <a:ext cx="2413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BD332"/>
                </a:solidFill>
                <a:latin typeface="Hiragino Sans"/>
                <a:ea typeface="Hiragino Sans"/>
                <a:cs typeface="Hiragino Sans"/>
              </a:rPr>
              <a:t>1.63 倍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61000" y="3227154"/>
            <a:ext cx="660400" cy="1725845"/>
          </a:xfrm>
          <a:prstGeom prst="rect">
            <a:avLst/>
          </a:prstGeom>
          <a:solidFill>
            <a:srgbClr val="EC72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7600" y="1730247"/>
            <a:ext cx="660400" cy="3222752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07000" y="2896954"/>
            <a:ext cx="11684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EC7211"/>
                </a:solidFill>
                <a:latin typeface="Hiragino Sans"/>
                <a:ea typeface="Hiragino Sans"/>
                <a:cs typeface="Hiragino Sans"/>
              </a:rPr>
              <a:t>1.57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07000" y="5054600"/>
            <a:ext cx="1905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p95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53000" y="5359400"/>
            <a:ext cx="2413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BD332"/>
                </a:solidFill>
                <a:latin typeface="Hiragino Sans"/>
                <a:ea typeface="Hiragino Sans"/>
                <a:cs typeface="Hiragino Sans"/>
              </a:rPr>
              <a:t>1.87 倍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29500" y="4248573"/>
            <a:ext cx="660400" cy="704426"/>
          </a:xfrm>
          <a:prstGeom prst="rect">
            <a:avLst/>
          </a:prstGeom>
          <a:solidFill>
            <a:srgbClr val="EC72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66100" y="1730247"/>
            <a:ext cx="660400" cy="3222752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75500" y="3918373"/>
            <a:ext cx="11684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EC7211"/>
                </a:solidFill>
                <a:latin typeface="Hiragino Sans"/>
                <a:ea typeface="Hiragino Sans"/>
                <a:cs typeface="Hiragino Sans"/>
              </a:rPr>
              <a:t>0.64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75500" y="5054600"/>
            <a:ext cx="1905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p99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21500" y="5359400"/>
            <a:ext cx="2413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BD332"/>
                </a:solidFill>
                <a:latin typeface="Hiragino Sans"/>
                <a:ea typeface="Hiragino Sans"/>
                <a:cs typeface="Hiragino Sans"/>
              </a:rPr>
              <a:t>4.57 倍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398000" y="4886960"/>
            <a:ext cx="660400" cy="66040"/>
          </a:xfrm>
          <a:prstGeom prst="rect">
            <a:avLst/>
          </a:prstGeom>
          <a:solidFill>
            <a:srgbClr val="EC72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134600" y="1730247"/>
            <a:ext cx="660400" cy="3222752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0" y="4556760"/>
            <a:ext cx="11684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EC7211"/>
                </a:solidFill>
                <a:latin typeface="Hiragino Sans"/>
                <a:ea typeface="Hiragino Sans"/>
                <a:cs typeface="Hiragino Sans"/>
              </a:rPr>
              <a:t>0.06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5054600"/>
            <a:ext cx="1905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p99.9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90000" y="5359400"/>
            <a:ext cx="2413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BD332"/>
                </a:solidFill>
                <a:latin typeface="Hiragino Sans"/>
                <a:ea typeface="Hiragino Sans"/>
                <a:cs typeface="Hiragino Sans"/>
              </a:rPr>
              <a:t>48.9 倍 (向きのみ)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80000" y="1219200"/>
            <a:ext cx="6350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>
                <a:solidFill>
                  <a:srgbClr val="96969E"/>
                </a:solidFill>
                <a:latin typeface="Hiragino Sans"/>
                <a:ea typeface="Hiragino Sans"/>
                <a:cs typeface="Hiragino Sans"/>
              </a:rPr>
              <a:t>橙 = 統合   緑 = 分離の書く係   黄 = 緑 ÷ 橙 (件/s)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21500" y="3479800"/>
            <a:ext cx="1524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DC2658"/>
                </a:solidFill>
                <a:latin typeface="Hiragino Sans"/>
                <a:ea typeface="Hiragino Sans"/>
                <a:cs typeface="Hiragino Sans"/>
              </a:rPr>
              <a:t>ここが崖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08000" y="6070600"/>
            <a:ext cx="11176000" cy="0"/>
          </a:xfrm>
          <a:prstGeom prst="line">
            <a:avLst/>
          </a:prstGeom>
          <a:ln w="12700">
            <a:solidFill>
              <a:srgbClr val="3C3E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508000" y="6223000"/>
            <a:ext cx="11176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統合は p95 と p99 の間で崖になり、分離の書く係は 2.928 件/s のまま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