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読む係と書く係を同じ機械でやるか、分けるか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143000"/>
            <a:ext cx="5461000" cy="4572000"/>
          </a:xfrm>
          <a:prstGeom prst="roundRect">
            <a:avLst>
              <a:gd name="adj" fmla="val 2777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70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統合: 1 台が両方を兼ねる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9000" y="2159000"/>
            <a:ext cx="330200" cy="635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0000" y="2159000"/>
            <a:ext cx="330200" cy="635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51000" y="2159000"/>
            <a:ext cx="1397000" cy="635000"/>
          </a:xfrm>
          <a:prstGeom prst="roundRect">
            <a:avLst>
              <a:gd name="adj" fmla="val 16000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8800" y="2159000"/>
            <a:ext cx="330200" cy="635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9800" y="2159000"/>
            <a:ext cx="330200" cy="635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0800" y="2159000"/>
            <a:ext cx="1397000" cy="635000"/>
          </a:xfrm>
          <a:prstGeom prst="roundRect">
            <a:avLst>
              <a:gd name="adj" fmla="val 16000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8600" y="2159000"/>
            <a:ext cx="330200" cy="635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048000"/>
            <a:ext cx="495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青 = 書く 1 歩、橙 = 読む係の計算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10000"/>
            <a:ext cx="4191000" cy="711200"/>
          </a:xfrm>
          <a:prstGeom prst="roundRect">
            <a:avLst>
              <a:gd name="adj" fmla="val 14285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橙の間、青は進まない</a:t>
            </a:r>
          </a:p>
          <a:p>
            <a:pPr algn="ctr"/>
            <a:r>
              <a:rPr sz="1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 トークンの間隔が伸びる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0" y="1143000"/>
            <a:ext cx="5461000" cy="4572000"/>
          </a:xfrm>
          <a:prstGeom prst="roundRect">
            <a:avLst>
              <a:gd name="adj" fmla="val 2777"/>
            </a:avLst>
          </a:prstGeom>
          <a:solidFill>
            <a:srgbClr val="14171D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70000"/>
            <a:ext cx="5105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iragino Sans"/>
                <a:ea typeface="Hiragino Sans"/>
                <a:cs typeface="Hiragino Sans"/>
              </a:rPr>
              <a:t>分離: 役割ごとに機械を分ける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4000" y="2032000"/>
            <a:ext cx="1905000" cy="7620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読む係の機械</a:t>
            </a:r>
          </a:p>
          <a:p>
            <a:pPr algn="ctr"/>
            <a:r>
              <a:rPr sz="1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入力をまとめて計算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0" y="2032000"/>
            <a:ext cx="1905000" cy="762000"/>
          </a:xfrm>
          <a:prstGeom prst="roundRect">
            <a:avLst>
              <a:gd name="adj" fmla="val 13333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書く係の機械</a:t>
            </a:r>
          </a:p>
          <a:p>
            <a:pPr algn="ctr"/>
            <a:r>
              <a:rPr sz="1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割り込みがない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34400" y="2413000"/>
            <a:ext cx="812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82000" y="1778000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D332"/>
                </a:solidFill>
                <a:latin typeface="Hiragino Sans"/>
                <a:ea typeface="Hiragino Sans"/>
                <a:cs typeface="Hiragino Sans"/>
              </a:rPr>
              <a:t>KV を運ぶ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40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77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14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851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88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5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62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99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36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73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410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34700" y="3175000"/>
            <a:ext cx="330200" cy="508000"/>
          </a:xfrm>
          <a:prstGeom prst="roundRect">
            <a:avLst>
              <a:gd name="adj" fmla="val 2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3810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96969E"/>
                </a:solidFill>
                <a:latin typeface="Hiragino Sans"/>
                <a:ea typeface="Hiragino Sans"/>
                <a:cs typeface="Hiragino Sans"/>
              </a:rPr>
              <a:t>書く 1 歩が等間隔に並ぶ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318000"/>
            <a:ext cx="4191000" cy="711200"/>
          </a:xfrm>
          <a:prstGeom prst="roundRect">
            <a:avLst>
              <a:gd name="adj" fmla="val 14285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書く係の相席を 1 台に集める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分離は割り込みを消し、代わりに運ぶ代金と役割で固定される台数を払う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