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31800"/>
            <a:ext cx="11176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分離するかどうかは 7 段で決める。上の段が下の段の前提になる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5000" y="1270000"/>
            <a:ext cx="2476500" cy="1524000"/>
          </a:xfrm>
          <a:prstGeom prst="roundRect">
            <a:avLst>
              <a:gd name="adj" fmla="val 6666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約束を決める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上限・分位点・達成率</a:t>
            </a:r>
          </a:p>
        </p:txBody>
      </p:sp>
      <p:sp>
        <p:nvSpPr>
          <p:cNvPr id="4" name="Oval 3"/>
          <p:cNvSpPr/>
          <p:nvPr/>
        </p:nvSpPr>
        <p:spPr>
          <a:xfrm>
            <a:off x="635000" y="1270000"/>
            <a:ext cx="304800" cy="304800"/>
          </a:xfrm>
          <a:prstGeom prst="ellipse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36900" y="2032000"/>
            <a:ext cx="3302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92500" y="1270000"/>
            <a:ext cx="2476500" cy="1524000"/>
          </a:xfrm>
          <a:prstGeom prst="roundRect">
            <a:avLst>
              <a:gd name="adj" fmla="val 6666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間隔は ICL で測る</a:t>
            </a:r>
          </a:p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クライアントはクラスタ内</a:t>
            </a:r>
          </a:p>
        </p:txBody>
      </p:sp>
      <p:sp>
        <p:nvSpPr>
          <p:cNvPr id="7" name="Oval 6"/>
          <p:cNvSpPr/>
          <p:nvPr/>
        </p:nvSpPr>
        <p:spPr>
          <a:xfrm>
            <a:off x="3492500" y="1270000"/>
            <a:ext cx="304800" cy="304800"/>
          </a:xfrm>
          <a:prstGeom prst="ellipse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94400" y="2032000"/>
            <a:ext cx="3302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50000" y="1270000"/>
            <a:ext cx="2476500" cy="1524000"/>
          </a:xfrm>
          <a:prstGeom prst="roundRect">
            <a:avLst>
              <a:gd name="adj" fmla="val 6666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実際の負荷の形で流す</a:t>
            </a:r>
          </a:p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送った総量を確かめる</a:t>
            </a:r>
          </a:p>
        </p:txBody>
      </p:sp>
      <p:sp>
        <p:nvSpPr>
          <p:cNvPr id="10" name="Oval 9"/>
          <p:cNvSpPr/>
          <p:nvPr/>
        </p:nvSpPr>
        <p:spPr>
          <a:xfrm>
            <a:off x="6350000" y="1270000"/>
            <a:ext cx="304800" cy="304800"/>
          </a:xfrm>
          <a:prstGeom prst="ellipse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51900" y="2032000"/>
            <a:ext cx="3302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07500" y="1270000"/>
            <a:ext cx="2476500" cy="1524000"/>
          </a:xfrm>
          <a:prstGeom prst="roundRect">
            <a:avLst>
              <a:gd name="adj" fmla="val 6666"/>
            </a:avLst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統合を先に最適化する</a:t>
            </a:r>
          </a:p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 回の読みを縛る</a:t>
            </a:r>
          </a:p>
        </p:txBody>
      </p:sp>
      <p:sp>
        <p:nvSpPr>
          <p:cNvPr id="13" name="Oval 12"/>
          <p:cNvSpPr/>
          <p:nvPr/>
        </p:nvSpPr>
        <p:spPr>
          <a:xfrm>
            <a:off x="9207500" y="1270000"/>
            <a:ext cx="304800" cy="304800"/>
          </a:xfrm>
          <a:prstGeom prst="ellipse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00" y="3810000"/>
            <a:ext cx="2476500" cy="1524000"/>
          </a:xfrm>
          <a:prstGeom prst="roundRect">
            <a:avLst>
              <a:gd name="adj" fmla="val 6666"/>
            </a:avLst>
          </a:prstGeom>
          <a:solidFill>
            <a:srgbClr val="966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机の上で計算する</a:t>
            </a:r>
          </a:p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天井、境目、到着率の上限</a:t>
            </a:r>
          </a:p>
        </p:txBody>
      </p:sp>
      <p:sp>
        <p:nvSpPr>
          <p:cNvPr id="15" name="Oval 14"/>
          <p:cNvSpPr/>
          <p:nvPr/>
        </p:nvSpPr>
        <p:spPr>
          <a:xfrm>
            <a:off x="635000" y="3810000"/>
            <a:ext cx="304800" cy="304800"/>
          </a:xfrm>
          <a:prstGeom prst="ellipse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36900" y="4572000"/>
            <a:ext cx="3302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92500" y="3810000"/>
            <a:ext cx="2476500" cy="1524000"/>
          </a:xfrm>
          <a:prstGeom prst="roundRect">
            <a:avLst>
              <a:gd name="adj" fmla="val 6666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帯 2 を探す</a:t>
            </a:r>
          </a:p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約束を引数に、比率も振る</a:t>
            </a:r>
          </a:p>
        </p:txBody>
      </p:sp>
      <p:sp>
        <p:nvSpPr>
          <p:cNvPr id="18" name="Oval 17"/>
          <p:cNvSpPr/>
          <p:nvPr/>
        </p:nvSpPr>
        <p:spPr>
          <a:xfrm>
            <a:off x="3492500" y="3810000"/>
            <a:ext cx="304800" cy="304800"/>
          </a:xfrm>
          <a:prstGeom prst="ellipse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4400" y="4572000"/>
            <a:ext cx="3302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50000" y="3810000"/>
            <a:ext cx="2476500" cy="1524000"/>
          </a:xfrm>
          <a:prstGeom prst="roundRect">
            <a:avLst>
              <a:gd name="adj" fmla="val 6666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繰り返しで確かめる</a:t>
            </a:r>
          </a:p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全回の合格を条件に</a:t>
            </a:r>
          </a:p>
        </p:txBody>
      </p:sp>
      <p:sp>
        <p:nvSpPr>
          <p:cNvPr id="21" name="Oval 20"/>
          <p:cNvSpPr/>
          <p:nvPr/>
        </p:nvSpPr>
        <p:spPr>
          <a:xfrm>
            <a:off x="6350000" y="3810000"/>
            <a:ext cx="304800" cy="304800"/>
          </a:xfrm>
          <a:prstGeom prst="ellipse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439400" y="2819400"/>
            <a:ext cx="0" cy="48260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866900" y="3302000"/>
            <a:ext cx="8572500" cy="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66900" y="3302000"/>
            <a:ext cx="0" cy="457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8000" y="6070600"/>
            <a:ext cx="11176000" cy="0"/>
          </a:xfrm>
          <a:prstGeom prst="line">
            <a:avLst/>
          </a:prstGeom>
          <a:ln w="12700">
            <a:solidFill>
              <a:srgbClr val="3C3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8000" y="622300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段を飛ばすと、下の段で測った数字が何を意味するか決まらない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