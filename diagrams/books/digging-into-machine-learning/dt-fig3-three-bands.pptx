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TPOT の上限を締めると、勝者は 3 つの帯に分かれる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016000"/>
            <a:ext cx="11176000" cy="4826000"/>
          </a:xfrm>
          <a:prstGeom prst="roundRect">
            <a:avLst>
              <a:gd name="adj" fmla="val 2631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3000" y="1905000"/>
            <a:ext cx="2549525" cy="1524000"/>
          </a:xfrm>
          <a:prstGeom prst="roundRect">
            <a:avLst>
              <a:gd name="adj" fmla="val 6666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帯 1</a:t>
            </a:r>
          </a:p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機材の限界より厳しい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3325" y="1905000"/>
            <a:ext cx="3251199" cy="1524000"/>
          </a:xfrm>
          <a:prstGeom prst="roundRect">
            <a:avLst>
              <a:gd name="adj" fmla="val 6666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帯 2: 分離が守る</a:t>
            </a:r>
          </a:p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TPOT だけの候補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5324" y="1905000"/>
            <a:ext cx="4003675" cy="1524000"/>
          </a:xfrm>
          <a:prstGeom prst="roundRect">
            <a:avLst>
              <a:gd name="adj" fmla="val 6666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帯 3: 両方が守る</a:t>
            </a:r>
          </a:p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TTFT の上限で勝敗が決まる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3810000"/>
            <a:ext cx="9906000" cy="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68500" y="3733800"/>
            <a:ext cx="0" cy="15240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87500" y="39624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32250" y="3733800"/>
            <a:ext cx="0" cy="15240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1250" y="39624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3733800"/>
            <a:ext cx="0" cy="15240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5000" y="39624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30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9750" y="3733800"/>
            <a:ext cx="0" cy="15240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8750" y="39624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35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23500" y="3733800"/>
            <a:ext cx="0" cy="15240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42500" y="39624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000" y="42672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TPOT の上限 (ms)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43325" y="1778000"/>
            <a:ext cx="0" cy="2032000"/>
          </a:xfrm>
          <a:prstGeom prst="line">
            <a:avLst/>
          </a:prstGeom>
          <a:ln w="25400">
            <a:solidFill>
              <a:srgbClr val="24A0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11325" y="14732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4A046"/>
                </a:solidFill>
                <a:latin typeface="Hiragino Sans"/>
                <a:ea typeface="Hiragino Sans"/>
                <a:cs typeface="Hiragino Sans"/>
              </a:rPr>
              <a:t>分離: 平均 TPOT の p90 24.3 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45324" y="1778000"/>
            <a:ext cx="0" cy="2032000"/>
          </a:xfrm>
          <a:prstGeom prst="line">
            <a:avLst/>
          </a:prstGeom>
          <a:ln w="25400">
            <a:solidFill>
              <a:srgbClr val="EC72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13324" y="14732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C7211"/>
                </a:solidFill>
                <a:latin typeface="Hiragino Sans"/>
                <a:ea typeface="Hiragino Sans"/>
                <a:cs typeface="Hiragino Sans"/>
              </a:rPr>
              <a:t>統合: 平均 TPOT の p90 32.3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" y="4953000"/>
            <a:ext cx="1041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到着 3 タスク/s、統合 16 レプリカ 対 分離 6P+10D、TCP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帯 2 は TPOT だけの候補で、合否は TTFT と同時に数えて決める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