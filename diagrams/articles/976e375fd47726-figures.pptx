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7593843-4CBC-A712-CB2B-B4F878BE34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B6776E-568F-A5A4-981B-E30628F872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E4815-926B-43B6-82AB-971B1A89CEF6}"/>
              </a:ext>
            </a:extLst>
          </p:cNvPr>
          <p:cNvSpPr txBox="1"/>
          <p:nvPr userDrawn="1"/>
        </p:nvSpPr>
        <p:spPr>
          <a:xfrm>
            <a:off x="504476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8361C3B-4A14-5F26-5768-6B75326001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90CE6C0-286E-8D46-B5B9-E759E6B1D45B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pic>
        <p:nvPicPr>
          <p:cNvPr id="2" name="Picture 14">
            <a:extLst>
              <a:ext uri="{FF2B5EF4-FFF2-40B4-BE49-F238E27FC236}">
                <a16:creationId xmlns:a16="http://schemas.microsoft.com/office/drawing/2014/main" id="{ED083E87-FD63-B7E6-B661-8B9B1092A33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sp>
        <p:nvSpPr>
          <p:cNvPr id="8" name="TextBox 10">
            <a:extLst>
              <a:ext uri="{FF2B5EF4-FFF2-40B4-BE49-F238E27FC236}">
                <a16:creationId xmlns:a16="http://schemas.microsoft.com/office/drawing/2014/main" id="{DDC33219-B0A1-E531-C83D-8E72AE56E00E}"/>
              </a:ext>
            </a:extLst>
          </p:cNvPr>
          <p:cNvSpPr txBox="1"/>
          <p:nvPr userDrawn="1"/>
        </p:nvSpPr>
        <p:spPr>
          <a:xfrm>
            <a:off x="1141084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7FF9CF2E-62E0-A545-84DA-B9AC00F7E3E6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B5C98E-29D0-7549-A4E6-151AFAD547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8A9BD07-537C-5F4E-B886-4920D3A7A675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72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37A45-3492-46BC-9D48-C3D4051171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237F78-6104-4004-2FA4-4DC0815B72C9}"/>
              </a:ext>
            </a:extLst>
          </p:cNvPr>
          <p:cNvSpPr txBox="1"/>
          <p:nvPr userDrawn="1"/>
        </p:nvSpPr>
        <p:spPr>
          <a:xfrm>
            <a:off x="1141084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2CB8C-58A4-4758-8C91-E8641A9F6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B8775CC-9149-104F-A0AA-1D28516DB30A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44248-408B-4052-8B56-17F469F98E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8479-5E5D-4B94-9958-5C40D64BED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13836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6B726-34C0-4C1C-A252-97930DC77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CB21609-CF88-DC48-B710-DBB231966AD5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103B0-BAC9-4248-BF05-F8F64F81D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B167B-71A0-4735-93B6-5A034F89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415A2B24-26B8-4648-9042-50A206C571EE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8ABEB-87DF-4979-B8D5-38D09C15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E3A9B1B-86FC-BA41-88F8-1EFDC287C6BE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E3A9-1F3C-45F4-9F53-543C4B62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6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4046E6-CE12-7F6E-8811-7DF794DE7D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74A0F19-4DC1-C244-AC72-E67047F3631D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93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CECC62-1D56-92A3-418D-0EC34FDA9B78}"/>
              </a:ext>
            </a:extLst>
          </p:cNvPr>
          <p:cNvSpPr txBox="1"/>
          <p:nvPr userDrawn="1"/>
        </p:nvSpPr>
        <p:spPr>
          <a:xfrm>
            <a:off x="1141084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B369C-4812-6B2A-CCF0-6346B4600A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B9EFE0-8E44-C90C-B937-EC90601AF0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991574-CEFD-26D9-588F-1C0FFBCDA2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8C7E34-CF30-2AED-4C9C-32CE310B5A51}"/>
              </a:ext>
            </a:extLst>
          </p:cNvPr>
          <p:cNvSpPr txBox="1"/>
          <p:nvPr userDrawn="1"/>
        </p:nvSpPr>
        <p:spPr>
          <a:xfrm>
            <a:off x="527767" y="6017899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74A381-7875-51BF-E8F6-ADD8CD0BFC47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6D05899-77E5-196B-EA14-086F9A5A5E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953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fld id="{01BAFFE3-0C81-0048-9276-DC89C07D235C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22683EA-DD71-1EA1-728E-AE69D57D64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33C312-F607-20F9-BC64-57A8B6A590DF}"/>
              </a:ext>
            </a:extLst>
          </p:cNvPr>
          <p:cNvSpPr txBox="1"/>
          <p:nvPr userDrawn="1"/>
        </p:nvSpPr>
        <p:spPr>
          <a:xfrm>
            <a:off x="1141084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8D85736-6993-1303-CAA9-192E54A5B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3838" y="62103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Trainium architecture, generation by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 tags: added in that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Trainium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575" y="1371600"/>
            <a:ext cx="342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Trn1  |  NeuronCore-v2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9575" y="1638300"/>
            <a:ext cx="3429000" cy="2095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3875" y="1752600"/>
            <a:ext cx="3200400" cy="28575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HBM 32 GiB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3875" y="2133600"/>
            <a:ext cx="1562100" cy="95250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62175" y="2133600"/>
            <a:ext cx="1562100" cy="95250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3875" y="3200400"/>
            <a:ext cx="1812036" cy="419100"/>
          </a:xfrm>
          <a:prstGeom prst="roundRect">
            <a:avLst>
              <a:gd name="adj" fmla="val 8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NeuronLink-v2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12111" y="3200400"/>
            <a:ext cx="1312164" cy="4191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6 CC-Cores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9575" y="3848100"/>
            <a:ext cx="3429000" cy="276225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4 engines per 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575" y="4171950"/>
            <a:ext cx="3429000" cy="276225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GPSIMD custom 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9575" y="4495800"/>
            <a:ext cx="3429000" cy="276225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Dynamic shapes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9575" y="4819650"/>
            <a:ext cx="3429000" cy="276225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Stochastic rounding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0575" y="5391150"/>
            <a:ext cx="323850" cy="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0575" y="5391150"/>
            <a:ext cx="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14425" y="5391150"/>
            <a:ext cx="323850" cy="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14425" y="5391150"/>
            <a:ext cx="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38275" y="5391150"/>
            <a:ext cx="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90575" y="5715000"/>
            <a:ext cx="323850" cy="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90575" y="5715000"/>
            <a:ext cx="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14425" y="5715000"/>
            <a:ext cx="323850" cy="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14425" y="5715000"/>
            <a:ext cx="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438275" y="5715000"/>
            <a:ext cx="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90575" y="6038850"/>
            <a:ext cx="323850" cy="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14425" y="6038850"/>
            <a:ext cx="323850" cy="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19125" y="5381625"/>
            <a:ext cx="171450" cy="190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38275" y="5381625"/>
            <a:ext cx="171450" cy="190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125" y="5705475"/>
            <a:ext cx="171450" cy="190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438275" y="5705475"/>
            <a:ext cx="171450" cy="190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125" y="6029325"/>
            <a:ext cx="171450" cy="190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38275" y="6029325"/>
            <a:ext cx="171450" cy="190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1050" y="5219700"/>
            <a:ext cx="19050" cy="1714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1050" y="6038850"/>
            <a:ext cx="19050" cy="1714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04900" y="5219700"/>
            <a:ext cx="19050" cy="1714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04900" y="6038850"/>
            <a:ext cx="19050" cy="1714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28750" y="5219700"/>
            <a:ext cx="19050" cy="1714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428750" y="6038850"/>
            <a:ext cx="19050" cy="1714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04850" y="53054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28700" y="53054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352550" y="53054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04850" y="562927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28700" y="562927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352550" y="562927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04850" y="59531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28700" y="59531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352550" y="59531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76475" y="5372100"/>
            <a:ext cx="15621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trn1.32xlarge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16-chip 2D torus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19600" y="106680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Trainium2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19600" y="1371600"/>
            <a:ext cx="342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Trn2  |  NeuronCore-v3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419600" y="1638300"/>
            <a:ext cx="3429000" cy="2095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533900" y="1752600"/>
            <a:ext cx="742950" cy="28575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24 GB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353050" y="1752600"/>
            <a:ext cx="742950" cy="28575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24 GB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72200" y="1752600"/>
            <a:ext cx="742950" cy="28575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24 GB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991350" y="1752600"/>
            <a:ext cx="742950" cy="28575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24 GB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33900" y="213360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NC-v3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353050" y="213360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NC-v3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72200" y="213360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NC-v3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991350" y="213360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NC-v3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33900" y="264795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353050" y="264795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NC-v3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72200" y="264795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NC-v3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991350" y="264795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NC-v3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05325" y="2095500"/>
            <a:ext cx="800100" cy="1028700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3BD1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324475" y="2095500"/>
            <a:ext cx="800100" cy="1028700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3BD1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143625" y="2095500"/>
            <a:ext cx="800100" cy="1028700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3BD1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962775" y="2095500"/>
            <a:ext cx="800100" cy="1028700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3BD1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4533900" y="3200400"/>
            <a:ext cx="1812036" cy="419100"/>
          </a:xfrm>
          <a:prstGeom prst="roundRect">
            <a:avLst>
              <a:gd name="adj" fmla="val 8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NeuronLink-v3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22136" y="3200400"/>
            <a:ext cx="1312164" cy="4191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 CC-Cores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419600" y="3848100"/>
            <a:ext cx="3429000" cy="276225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8 cores per chip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419600" y="4171950"/>
            <a:ext cx="3429000" cy="276225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Logical NeuronCore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419600" y="4495800"/>
            <a:ext cx="3429000" cy="276225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Structured sparsity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419600" y="4819650"/>
            <a:ext cx="3429000" cy="276225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cFP8 exponent bias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4800600" y="5391150"/>
            <a:ext cx="323850" cy="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800600" y="5391150"/>
            <a:ext cx="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124450" y="5391150"/>
            <a:ext cx="323850" cy="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5124450" y="5391150"/>
            <a:ext cx="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5448300" y="5391150"/>
            <a:ext cx="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00600" y="5715000"/>
            <a:ext cx="323850" cy="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800600" y="5715000"/>
            <a:ext cx="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124450" y="5715000"/>
            <a:ext cx="323850" cy="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5124450" y="5715000"/>
            <a:ext cx="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5448300" y="5715000"/>
            <a:ext cx="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800600" y="6038850"/>
            <a:ext cx="323850" cy="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124450" y="6038850"/>
            <a:ext cx="323850" cy="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4629150" y="5381625"/>
            <a:ext cx="171450" cy="190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448300" y="5381625"/>
            <a:ext cx="171450" cy="190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629150" y="5705475"/>
            <a:ext cx="171450" cy="190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448300" y="5705475"/>
            <a:ext cx="171450" cy="190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629150" y="6029325"/>
            <a:ext cx="171450" cy="190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448300" y="6029325"/>
            <a:ext cx="171450" cy="190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791075" y="5219700"/>
            <a:ext cx="19050" cy="1714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791075" y="6038850"/>
            <a:ext cx="19050" cy="1714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114925" y="5219700"/>
            <a:ext cx="19050" cy="1714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114925" y="6038850"/>
            <a:ext cx="19050" cy="1714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438775" y="5219700"/>
            <a:ext cx="19050" cy="1714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438775" y="6038850"/>
            <a:ext cx="19050" cy="1714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4714875" y="53054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5038725" y="53054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5362575" y="53054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4714875" y="562927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5038725" y="562927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5362575" y="562927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4714875" y="59531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5038725" y="59531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5362575" y="59531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286500" y="5372100"/>
            <a:ext cx="15621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16-chip torus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64 / UltraServer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429625" y="106680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Trainium3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429625" y="1371600"/>
            <a:ext cx="3429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Trn3  |  NeuronCore-v4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429625" y="1638300"/>
            <a:ext cx="3429000" cy="2095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8543925" y="1752600"/>
            <a:ext cx="3200400" cy="28575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HBM 144 GiB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543925" y="213360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NC-v4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363075" y="213360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NC-v4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0182225" y="213360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NC-v4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1001375" y="213360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NC-v4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543925" y="264795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NC-v4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363075" y="264795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NC-v4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0182225" y="264795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NC-v4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1001375" y="2647950"/>
            <a:ext cx="742950" cy="4381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NC-v4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8543925" y="3200400"/>
            <a:ext cx="1812036" cy="419100"/>
          </a:xfrm>
          <a:prstGeom prst="roundRect">
            <a:avLst>
              <a:gd name="adj" fmla="val 8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NeuronLink-v4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0432161" y="3200400"/>
            <a:ext cx="1312164" cy="4191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16 CC-Cores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8429625" y="3848100"/>
            <a:ext cx="3429000" cy="276225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MXFP8 / MXFP4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8429625" y="4171950"/>
            <a:ext cx="3429000" cy="276225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Near-memory accumulation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8429625" y="4495800"/>
            <a:ext cx="3429000" cy="276225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Fast exp on Vector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8429625" y="4819650"/>
            <a:ext cx="3429000" cy="276225"/>
          </a:xfrm>
          <a:prstGeom prst="roundRect">
            <a:avLst>
              <a:gd name="adj" fmla="val 30000"/>
            </a:avLst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NeuronSwitch-v1</a:t>
            </a:r>
          </a:p>
        </p:txBody>
      </p:sp>
      <p:cxnSp>
        <p:nvCxnSpPr>
          <p:cNvPr id="127" name="Connector 126"/>
          <p:cNvCxnSpPr/>
          <p:nvPr/>
        </p:nvCxnSpPr>
        <p:spPr>
          <a:xfrm flipH="1" flipV="1">
            <a:off x="8810625" y="5391150"/>
            <a:ext cx="64770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9458325" y="5334000"/>
            <a:ext cx="0" cy="38100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9458325" y="5391150"/>
            <a:ext cx="64770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8810625" y="5715000"/>
            <a:ext cx="64770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9458325" y="5715000"/>
            <a:ext cx="0" cy="38100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9458325" y="5715000"/>
            <a:ext cx="647700" cy="323850"/>
          </a:xfrm>
          <a:prstGeom prst="line">
            <a:avLst/>
          </a:prstGeom>
          <a:ln w="190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32"/>
          <p:cNvSpPr/>
          <p:nvPr/>
        </p:nvSpPr>
        <p:spPr>
          <a:xfrm>
            <a:off x="9210675" y="5591175"/>
            <a:ext cx="495300" cy="247650"/>
          </a:xfrm>
          <a:prstGeom prst="roundRect">
            <a:avLst>
              <a:gd name="adj" fmla="val 8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SW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8724900" y="53054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9372600" y="524827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10020300" y="53054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8724900" y="59531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9372600" y="601027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10020300" y="5953125"/>
            <a:ext cx="171450" cy="171450"/>
          </a:xfrm>
          <a:prstGeom prst="roundRect">
            <a:avLst>
              <a:gd name="adj" fmla="val 2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296525" y="5372100"/>
            <a:ext cx="15621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UltraServer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Gen1: 64 chips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Gen2: 144 chips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3933825" y="2686050"/>
            <a:ext cx="390525" cy="0"/>
          </a:xfrm>
          <a:prstGeom prst="line">
            <a:avLst/>
          </a:prstGeom>
          <a:ln w="381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7943850" y="2686050"/>
            <a:ext cx="390525" cy="0"/>
          </a:xfrm>
          <a:prstGeom prst="line">
            <a:avLst/>
          </a:prstGeom>
          <a:ln w="381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Logical NeuronCore (LNC) on Trainium2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8 physical cores per chip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123950"/>
            <a:ext cx="5448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LNC =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524000"/>
            <a:ext cx="5448300" cy="3143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23875" y="1676400"/>
            <a:ext cx="1219200" cy="4191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HBM 24 GB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0962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2387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5732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17157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5300" y="3638550"/>
            <a:ext cx="628650" cy="3238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NC_v3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638550"/>
            <a:ext cx="628650" cy="3238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NC_v3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57375" y="1676400"/>
            <a:ext cx="1219200" cy="4191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HBM 24 GB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4312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85737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9082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50507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3638550"/>
            <a:ext cx="628650" cy="3238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NC_v3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76500" y="3638550"/>
            <a:ext cx="628650" cy="3238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NC_v3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90875" y="1676400"/>
            <a:ext cx="1219200" cy="4191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HBM 24 GB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7662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19087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2432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83857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62300" y="3638550"/>
            <a:ext cx="628650" cy="3238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NC_v3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0" y="3638550"/>
            <a:ext cx="628650" cy="3238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NC_v3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4375" y="1676400"/>
            <a:ext cx="1219200" cy="4191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HBM 24 GB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81012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52437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5782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17207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95800" y="3638550"/>
            <a:ext cx="628650" cy="3238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NC_v3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43500" y="3638550"/>
            <a:ext cx="628650" cy="3238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NC_v3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9575" y="4095750"/>
            <a:ext cx="54483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8 logical cores per chip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9575" y="4762500"/>
            <a:ext cx="54483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trn2.48xlarge: 128 cores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4125" y="1123950"/>
            <a:ext cx="5448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4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LNC = 2  (default)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34125" y="1524000"/>
            <a:ext cx="5448300" cy="3143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48425" y="1676400"/>
            <a:ext cx="1219200" cy="4191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HBM 24 GB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3417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44842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38187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09612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2419350"/>
            <a:ext cx="1314450" cy="120015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3BD1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00800" y="3638550"/>
            <a:ext cx="1314450" cy="3238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NC_v3d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81925" y="1676400"/>
            <a:ext cx="1219200" cy="4191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HBM 24 GB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06767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78192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71537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42962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34300" y="2419350"/>
            <a:ext cx="1314450" cy="120015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3BD1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734300" y="3638550"/>
            <a:ext cx="1314450" cy="3238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NC_v3d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15425" y="1676400"/>
            <a:ext cx="1219200" cy="4191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HBM 24 GB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40117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911542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004887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976312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67800" y="2419350"/>
            <a:ext cx="1314450" cy="120015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3BD1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067800" y="3638550"/>
            <a:ext cx="1314450" cy="3238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NC_v3d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448925" y="1676400"/>
            <a:ext cx="1219200" cy="4191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HBM 24 GB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073467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1044892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1382375" y="2095500"/>
            <a:ext cx="0" cy="4000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11096625" y="2495550"/>
            <a:ext cx="571500" cy="1047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v3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401300" y="2419350"/>
            <a:ext cx="1314450" cy="120015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3BD1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0401300" y="3638550"/>
            <a:ext cx="1314450" cy="32385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NC_v3d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34125" y="4095750"/>
            <a:ext cx="54483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4 logical cores per chip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34125" y="4762500"/>
            <a:ext cx="54483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trn2.48xlarge: 64 cores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09575" y="5334000"/>
            <a:ext cx="11372850" cy="514350"/>
          </a:xfrm>
          <a:prstGeom prst="roundRect">
            <a:avLst>
              <a:gd name="adj" fmla="val 20000"/>
            </a:avLst>
          </a:prstGeom>
          <a:solidFill>
            <a:srgbClr val="101418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Runtime setting   =   Compiler setting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Near-memory accumulation on NeuronCore-v4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Adding incoming B into A in SRAM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28700"/>
            <a:ext cx="5715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Generic: copy, then add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600200"/>
            <a:ext cx="1619250" cy="11430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Source</a:t>
            </a:r>
          </a:p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5575" y="1885950"/>
            <a:ext cx="1143000" cy="571500"/>
          </a:xfrm>
          <a:prstGeom prst="roundRect">
            <a:avLst>
              <a:gd name="adj" fmla="val 8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DMA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28825" y="2171700"/>
            <a:ext cx="666750" cy="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05325" y="1466850"/>
            <a:ext cx="4762500" cy="140970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9625" y="15240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SRAM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91075" y="1809750"/>
            <a:ext cx="1428750" cy="66675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 w="12700">
            <a:solidFill>
              <a:srgbClr val="96969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  (copy)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53325" y="1809750"/>
            <a:ext cx="1428750" cy="666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270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91075" y="3048000"/>
            <a:ext cx="4191000" cy="4953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Engine:  A + 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38575" y="2143125"/>
            <a:ext cx="952500" cy="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05450" y="2476500"/>
            <a:ext cx="0" cy="57150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81950" y="2476500"/>
            <a:ext cx="0" cy="57150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553450" y="2476500"/>
            <a:ext cx="0" cy="57150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181475" y="1771650"/>
            <a:ext cx="266700" cy="266700"/>
          </a:xfrm>
          <a:prstGeom prst="ellipse">
            <a:avLst/>
          </a:prstGeom>
          <a:solidFill>
            <a:srgbClr val="5A5A62"/>
          </a:solidFill>
          <a:ln w="25400">
            <a:solidFill>
              <a:srgbClr val="F5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5657850" y="2628900"/>
            <a:ext cx="266700" cy="266700"/>
          </a:xfrm>
          <a:prstGeom prst="ellipse">
            <a:avLst/>
          </a:prstGeom>
          <a:solidFill>
            <a:srgbClr val="5A5A62"/>
          </a:solidFill>
          <a:ln w="25400">
            <a:solidFill>
              <a:srgbClr val="F5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8134350" y="2628900"/>
            <a:ext cx="266700" cy="266700"/>
          </a:xfrm>
          <a:prstGeom prst="ellipse">
            <a:avLst/>
          </a:prstGeom>
          <a:solidFill>
            <a:srgbClr val="5A5A62"/>
          </a:solidFill>
          <a:ln w="25400">
            <a:solidFill>
              <a:srgbClr val="F5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8705850" y="2628900"/>
            <a:ext cx="266700" cy="266700"/>
          </a:xfrm>
          <a:prstGeom prst="ellipse">
            <a:avLst/>
          </a:prstGeom>
          <a:solidFill>
            <a:srgbClr val="5A5A62"/>
          </a:solidFill>
          <a:ln w="25400">
            <a:solidFill>
              <a:srgbClr val="F5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9575" y="3810000"/>
            <a:ext cx="5715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NeuronCore-v4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9575" y="4381500"/>
            <a:ext cx="1619250" cy="1143000"/>
          </a:xfrm>
          <a:prstGeom prst="roundRect">
            <a:avLst>
              <a:gd name="adj" fmla="val 8000"/>
            </a:avLst>
          </a:prstGeom>
          <a:solidFill>
            <a:srgbClr val="34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Source</a:t>
            </a:r>
          </a:p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95575" y="4667250"/>
            <a:ext cx="1143000" cy="571500"/>
          </a:xfrm>
          <a:prstGeom prst="roundRect">
            <a:avLst>
              <a:gd name="adj" fmla="val 8000"/>
            </a:avLst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DMA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028825" y="4953000"/>
            <a:ext cx="666750" cy="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505325" y="4248150"/>
            <a:ext cx="4762500" cy="1409700"/>
          </a:xfrm>
          <a:prstGeom prst="roundRect">
            <a:avLst>
              <a:gd name="adj" fmla="val 6000"/>
            </a:avLst>
          </a:prstGeom>
          <a:solidFill>
            <a:srgbClr val="161A1E"/>
          </a:solidFill>
          <a:ln w="19050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9625" y="43053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SRAM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4575" y="4591050"/>
            <a:ext cx="2095500" cy="66675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254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  ←  A + B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3838575" y="4924425"/>
            <a:ext cx="2286000" cy="28575"/>
          </a:xfrm>
          <a:prstGeom prst="line">
            <a:avLst/>
          </a:prstGeom>
          <a:ln w="381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181475" y="4591050"/>
            <a:ext cx="266700" cy="266700"/>
          </a:xfrm>
          <a:prstGeom prst="ellipse">
            <a:avLst/>
          </a:prstGeom>
          <a:solidFill>
            <a:srgbClr val="FBD332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000000"/>
                </a:solidFill>
                <a:latin typeface="Amazon Ember"/>
                <a:ea typeface="メイリオ"/>
                <a:cs typeface="メイリオ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3575" y="4533900"/>
            <a:ext cx="22288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read-add-write</a:t>
            </a:r>
          </a:p>
          <a:p>
            <a:pPr algn="l">
              <a:lnSpc>
                <a:spcPct val="122000"/>
              </a:lnSpc>
            </a:pPr>
            <a:r>
              <a:rPr sz="18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in one transfer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