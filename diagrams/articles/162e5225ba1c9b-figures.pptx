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1000" y="190500"/>
            <a:ext cx="11430000" cy="4762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l"/>
            <a:r>
              <a:rPr sz="3000" b="1">
                <a:solidFill>
                  <a:srgbClr val="1B5E20"/>
                </a:solidFill>
                <a:latin typeface="Hiragino Sans"/>
                <a:ea typeface="Hiragino Sans"/>
                <a:cs typeface="Hiragino Sans"/>
              </a:rPr>
              <a:t>vLLM は変えず、plugin の枠にモデルを足す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1000" y="952500"/>
            <a:ext cx="3429000" cy="5334000"/>
          </a:xfrm>
          <a:prstGeom prst="roundRect">
            <a:avLst>
              <a:gd name="adj" fmla="val 12000"/>
            </a:avLst>
          </a:prstGeom>
          <a:solidFill>
            <a:srgbClr val="F1F3F2"/>
          </a:solidFill>
          <a:ln w="22225">
            <a:solidFill>
              <a:srgbClr val="B0B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047750"/>
            <a:ext cx="3048000" cy="4191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800" b="1">
                <a:solidFill>
                  <a:srgbClr val="55665C"/>
                </a:solidFill>
                <a:latin typeface="Hiragino Sans"/>
                <a:ea typeface="Hiragino Sans"/>
                <a:cs typeface="Hiragino Sans"/>
              </a:rPr>
              <a:t>vLLM 本体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6750" y="1666875"/>
            <a:ext cx="2857500" cy="1047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B0B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API サーバー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3095625"/>
            <a:ext cx="2857500" cy="1047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B0B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リクエスト管理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6750" y="4524375"/>
            <a:ext cx="2857500" cy="1047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B0B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KV ブロック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250" y="952500"/>
            <a:ext cx="3429000" cy="5334000"/>
          </a:xfrm>
          <a:prstGeom prst="roundRect">
            <a:avLst>
              <a:gd name="adj" fmla="val 12000"/>
            </a:avLst>
          </a:prstGeom>
          <a:solidFill>
            <a:srgbClr val="E8F5E9"/>
          </a:solidFill>
          <a:ln w="222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4476750" y="1047750"/>
            <a:ext cx="3048000" cy="4191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800" b="1">
                <a:solidFill>
                  <a:srgbClr val="2E7D32"/>
                </a:solidFill>
                <a:latin typeface="Hiragino Sans"/>
                <a:ea typeface="Hiragino Sans"/>
                <a:cs typeface="Hiragino Sans"/>
              </a:rPr>
              <a:t>Neuron plugin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666875"/>
            <a:ext cx="2857500" cy="1047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スケジューラ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3095625"/>
            <a:ext cx="2857500" cy="1047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ModelRunner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4524375"/>
            <a:ext cx="2857500" cy="1047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KV の確保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1500" y="952500"/>
            <a:ext cx="3619500" cy="5334000"/>
          </a:xfrm>
          <a:prstGeom prst="roundRect">
            <a:avLst>
              <a:gd name="adj" fmla="val 12000"/>
            </a:avLst>
          </a:prstGeom>
          <a:solidFill>
            <a:srgbClr val="C8E6C9"/>
          </a:solidFill>
          <a:ln w="222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8382000" y="1047750"/>
            <a:ext cx="3238500" cy="4191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800" b="1">
                <a:solidFill>
                  <a:srgbClr val="1B5E20"/>
                </a:solidFill>
                <a:latin typeface="Hiragino Sans"/>
                <a:ea typeface="Hiragino Sans"/>
                <a:cs typeface="Hiragino Sans"/>
              </a:rPr>
              <a:t>nemotron_h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77250" y="1666875"/>
            <a:ext cx="3048000" cy="1047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1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契約メソッド 5 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77250" y="3095625"/>
            <a:ext cx="3048000" cy="1047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状態プール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77250" y="4524375"/>
            <a:ext cx="3048000" cy="1047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NKI カーネル 4 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810000" y="3619500"/>
            <a:ext cx="476250" cy="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715250" y="3619500"/>
            <a:ext cx="476250" cy="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81000" y="6362700"/>
            <a:ext cx="11430000" cy="4191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0">
                <a:solidFill>
                  <a:srgbClr val="55665C"/>
                </a:solidFill>
                <a:latin typeface="Hiragino Sans"/>
                <a:ea typeface="Hiragino Sans"/>
                <a:cs typeface="Hiragino Sans"/>
              </a:rPr>
              <a:t>既存ファイルの変更はモデル登録の 2 行だけ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1000" y="190500"/>
            <a:ext cx="11430000" cy="4762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l"/>
            <a:r>
              <a:rPr sz="3000" b="1">
                <a:solidFill>
                  <a:srgbClr val="1B5E20"/>
                </a:solidFill>
                <a:latin typeface="Hiragino Sans"/>
                <a:ea typeface="Hiragino Sans"/>
                <a:cs typeface="Hiragino Sans"/>
              </a:rPr>
              <a:t>契約は 5 つ。難所は KV の申告と状態の置き場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1000" y="952500"/>
            <a:ext cx="3143250" cy="83820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6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from_configs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14750" y="952500"/>
            <a:ext cx="8096250" cy="838200"/>
          </a:xfrm>
          <a:prstGeom prst="roundRect">
            <a:avLst>
              <a:gd name="adj" fmla="val 12000"/>
            </a:avLst>
          </a:prstGeom>
          <a:solidFill>
            <a:srgbClr val="E8F5E9"/>
          </a:solidFill>
          <a:ln w="222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l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設定を読む。最大同時数も受け取る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981200"/>
            <a:ext cx="3143250" cy="83820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6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load_weights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14750" y="1981200"/>
            <a:ext cx="8096250" cy="838200"/>
          </a:xfrm>
          <a:prstGeom prst="roundRect">
            <a:avLst>
              <a:gd name="adj" fmla="val 12000"/>
            </a:avLst>
          </a:prstGeom>
          <a:solidFill>
            <a:srgbClr val="E8F5E9"/>
          </a:solidFill>
          <a:ln w="222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l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重みを TP で分割。MoE は専門家ごとに並べ直す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1000" y="3009900"/>
            <a:ext cx="3143250" cy="83820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6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get_kv_spec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14750" y="3009900"/>
            <a:ext cx="8096250" cy="838200"/>
          </a:xfrm>
          <a:prstGeom prst="roundRect">
            <a:avLst>
              <a:gd name="adj" fmla="val 12000"/>
            </a:avLst>
          </a:prstGeom>
          <a:solidFill>
            <a:srgbClr val="C8E6C9"/>
          </a:solidFill>
          <a:ln w="222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l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Attention の 6 層だけ KV を申告する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1000" y="4038600"/>
            <a:ext cx="3143250" cy="83820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6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bind_kv_cache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4750" y="4038600"/>
            <a:ext cx="8096250" cy="838200"/>
          </a:xfrm>
          <a:prstGeom prst="roundRect">
            <a:avLst>
              <a:gd name="adj" fmla="val 12000"/>
            </a:avLst>
          </a:prstGeom>
          <a:solidFill>
            <a:srgbClr val="E8F5E9"/>
          </a:solidFill>
          <a:ln w="222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l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確保された KV を Attention 層へつなぐ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5067300"/>
            <a:ext cx="3143250" cy="83820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6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forward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14750" y="5067300"/>
            <a:ext cx="8096250" cy="838200"/>
          </a:xfrm>
          <a:prstGeom prst="roundRect">
            <a:avLst>
              <a:gd name="adj" fmla="val 12000"/>
            </a:avLst>
          </a:prstGeom>
          <a:solidFill>
            <a:srgbClr val="E8F5E9"/>
          </a:solidFill>
          <a:ln w="222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l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層の種類で 3 つの部品へ振り分ける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000" y="6191250"/>
            <a:ext cx="11430000" cy="4762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600" b="1">
                <a:solidFill>
                  <a:srgbClr val="2E7D32"/>
                </a:solidFill>
                <a:latin typeface="Hiragino Sans"/>
                <a:ea typeface="Hiragino Sans"/>
                <a:cs typeface="Hiragino Sans"/>
              </a:rPr>
              <a:t>Mamba の状態は KV の外。モデル側のプールに置く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1000" y="190500"/>
            <a:ext cx="11430000" cy="4762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l"/>
            <a:r>
              <a:rPr sz="3000" b="1">
                <a:solidFill>
                  <a:srgbClr val="1B5E20"/>
                </a:solidFill>
                <a:latin typeface="Hiragino Sans"/>
                <a:ea typeface="Hiragino Sans"/>
                <a:cs typeface="Hiragino Sans"/>
              </a:rPr>
              <a:t>52 層は 3 種類。それぞれ Trainium で通る形に書き直す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381000" y="857250"/>
            <a:ext cx="200757" cy="43815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807" y="857250"/>
            <a:ext cx="200757" cy="4381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0615" y="857250"/>
            <a:ext cx="200757" cy="43815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0423" y="857250"/>
            <a:ext cx="200757" cy="4381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60230" y="857250"/>
            <a:ext cx="200757" cy="43815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80038" y="857250"/>
            <a:ext cx="200757" cy="43815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99846" y="857250"/>
            <a:ext cx="200757" cy="4381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919653" y="857250"/>
            <a:ext cx="200757" cy="43815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39461" y="857250"/>
            <a:ext cx="200757" cy="4381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59269" y="857250"/>
            <a:ext cx="200757" cy="43815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79076" y="857250"/>
            <a:ext cx="200757" cy="4381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98884" y="857250"/>
            <a:ext cx="200757" cy="43815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18692" y="857250"/>
            <a:ext cx="200757" cy="43815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38500" y="857250"/>
            <a:ext cx="200757" cy="4381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58307" y="857250"/>
            <a:ext cx="200757" cy="43815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8115" y="857250"/>
            <a:ext cx="200757" cy="4381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97923" y="857250"/>
            <a:ext cx="200757" cy="43815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7730" y="857250"/>
            <a:ext cx="200757" cy="4381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37538" y="857250"/>
            <a:ext cx="200757" cy="43815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57346" y="857250"/>
            <a:ext cx="200757" cy="43815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77153" y="857250"/>
            <a:ext cx="200757" cy="4381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96961" y="857250"/>
            <a:ext cx="200757" cy="43815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216769" y="857250"/>
            <a:ext cx="200757" cy="4381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36576" y="857250"/>
            <a:ext cx="200757" cy="43815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56384" y="857250"/>
            <a:ext cx="200757" cy="4381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76192" y="857250"/>
            <a:ext cx="200757" cy="43815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96000" y="857250"/>
            <a:ext cx="200757" cy="43815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15807" y="857250"/>
            <a:ext cx="200757" cy="4381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35615" y="857250"/>
            <a:ext cx="200757" cy="43815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55423" y="857250"/>
            <a:ext cx="200757" cy="4381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75230" y="857250"/>
            <a:ext cx="200757" cy="43815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95038" y="857250"/>
            <a:ext cx="200757" cy="4381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14846" y="857250"/>
            <a:ext cx="200757" cy="43815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34653" y="857250"/>
            <a:ext cx="200757" cy="43815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54461" y="857250"/>
            <a:ext cx="200757" cy="4381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74269" y="857250"/>
            <a:ext cx="200757" cy="43815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94076" y="857250"/>
            <a:ext cx="200757" cy="4381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13884" y="857250"/>
            <a:ext cx="200757" cy="43815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733692" y="857250"/>
            <a:ext cx="200757" cy="4381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53500" y="857250"/>
            <a:ext cx="200757" cy="43815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73307" y="857250"/>
            <a:ext cx="200757" cy="4381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393115" y="857250"/>
            <a:ext cx="200757" cy="43815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12923" y="857250"/>
            <a:ext cx="200757" cy="43815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832730" y="857250"/>
            <a:ext cx="200757" cy="4381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052538" y="857250"/>
            <a:ext cx="200757" cy="43815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272346" y="857250"/>
            <a:ext cx="200757" cy="4381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492153" y="857250"/>
            <a:ext cx="200757" cy="43815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711961" y="857250"/>
            <a:ext cx="200757" cy="4381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931769" y="857250"/>
            <a:ext cx="200757" cy="43815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151576" y="857250"/>
            <a:ext cx="200757" cy="4381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371384" y="857250"/>
            <a:ext cx="200757" cy="43815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591192" y="857250"/>
            <a:ext cx="200757" cy="4381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381000" y="1619250"/>
            <a:ext cx="3619500" cy="666750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Mamba2 23 層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81000" y="2381250"/>
            <a:ext cx="3619500" cy="31432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逐次ループは</a:t>
            </a:r>
          </a:p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コンパイルできない</a:t>
            </a:r>
          </a:p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128 トークンの塊で</a:t>
            </a:r>
          </a:p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行列演算にする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286250" y="1619250"/>
            <a:ext cx="3619500" cy="666750"/>
          </a:xfrm>
          <a:prstGeom prst="roundRect">
            <a:avLst>
              <a:gd name="adj" fmla="val 12000"/>
            </a:avLst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MoE 23 層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86250" y="2381250"/>
            <a:ext cx="3619500" cy="31432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F9A8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128 個から 6 個</a:t>
            </a:r>
          </a:p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gather は使えない</a:t>
            </a:r>
          </a:p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比較と和だけで</a:t>
            </a:r>
          </a:p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選ぶ形にする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91500" y="1619250"/>
            <a:ext cx="3619500" cy="666750"/>
          </a:xfrm>
          <a:prstGeom prst="roundRect">
            <a:avLst>
              <a:gd name="adj" fmla="val 12000"/>
            </a:avLst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Attention 6 層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191500" y="2381250"/>
            <a:ext cx="3619500" cy="31432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1B5E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位置埋め込みなし</a:t>
            </a:r>
          </a:p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KV を持つのは</a:t>
            </a:r>
          </a:p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この 6 層だけ</a:t>
            </a:r>
          </a:p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既存部品を使う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1000" y="5810250"/>
            <a:ext cx="11430000" cy="4762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0">
                <a:solidFill>
                  <a:srgbClr val="55665C"/>
                </a:solidFill>
                <a:latin typeface="Hiragino Sans"/>
                <a:ea typeface="Hiragino Sans"/>
                <a:cs typeface="Hiragino Sans"/>
              </a:rPr>
              <a:t>等価性は CPU テストで参照実装と突き合わせて固定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1000" y="190500"/>
            <a:ext cx="11430000" cy="4762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l"/>
            <a:r>
              <a:rPr sz="3000" b="1">
                <a:solidFill>
                  <a:srgbClr val="1B5E20"/>
                </a:solidFill>
                <a:latin typeface="Hiragino Sans"/>
                <a:ea typeface="Hiragino Sans"/>
                <a:cs typeface="Hiragino Sans"/>
              </a:rPr>
              <a:t>1 トークンの生成 72.5 ms → 9.0 ms</a:t>
            </a:r>
          </a:p>
        </p:txBody>
      </p:sp>
      <p:sp>
        <p:nvSpPr>
          <p:cNvPr id="3" name="Rectangle 2"/>
          <p:cNvSpPr/>
          <p:nvPr/>
        </p:nvSpPr>
        <p:spPr>
          <a:xfrm>
            <a:off x="381000" y="952500"/>
            <a:ext cx="2190750" cy="838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l"/>
            <a:r>
              <a:rPr sz="2600" b="1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出発点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2571750" y="1085850"/>
            <a:ext cx="4762500" cy="571500"/>
          </a:xfrm>
          <a:prstGeom prst="rect">
            <a:avLst/>
          </a:prstGeom>
          <a:solidFill>
            <a:srgbClr val="B0B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48550" y="952500"/>
            <a:ext cx="2000250" cy="838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l"/>
            <a:r>
              <a:rPr sz="2600" b="1">
                <a:solidFill>
                  <a:srgbClr val="1B5E20"/>
                </a:solidFill>
                <a:latin typeface="Hiragino Sans"/>
                <a:ea typeface="Hiragino Sans"/>
                <a:cs typeface="Hiragino Sans"/>
              </a:rPr>
              <a:t>72.5 ms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1981200"/>
            <a:ext cx="2190750" cy="838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l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専門家を絞る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2571750" y="2114550"/>
            <a:ext cx="919655" cy="5715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05705" y="1981200"/>
            <a:ext cx="2000250" cy="838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l"/>
            <a:r>
              <a:rPr sz="2600" b="1">
                <a:solidFill>
                  <a:srgbClr val="1B5E20"/>
                </a:solidFill>
                <a:latin typeface="Hiragino Sans"/>
                <a:ea typeface="Hiragino Sans"/>
                <a:cs typeface="Hiragino Sans"/>
              </a:rPr>
              <a:t>14 ms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82155" y="1981200"/>
            <a:ext cx="6319344" cy="838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l"/>
            <a:r>
              <a:rPr sz="2400" b="0">
                <a:solidFill>
                  <a:srgbClr val="55665C"/>
                </a:solidFill>
                <a:latin typeface="Hiragino Sans"/>
                <a:ea typeface="Hiragino Sans"/>
                <a:cs typeface="Hiragino Sans"/>
              </a:rPr>
              <a:t>topk → 重みを 6 個だけ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1000" y="3009900"/>
            <a:ext cx="2190750" cy="838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l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Attention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71750" y="3143250"/>
            <a:ext cx="840827" cy="5715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6877" y="3009900"/>
            <a:ext cx="2000250" cy="838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l"/>
            <a:r>
              <a:rPr sz="2600" b="1">
                <a:solidFill>
                  <a:srgbClr val="1B5E20"/>
                </a:solidFill>
                <a:latin typeface="Hiragino Sans"/>
                <a:ea typeface="Hiragino Sans"/>
                <a:cs typeface="Hiragino Sans"/>
              </a:rPr>
              <a:t>12.8 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03327" y="3009900"/>
            <a:ext cx="6398172" cy="838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l"/>
            <a:r>
              <a:rPr sz="2400" b="0">
                <a:solidFill>
                  <a:srgbClr val="55665C"/>
                </a:solidFill>
                <a:latin typeface="Hiragino Sans"/>
                <a:ea typeface="Hiragino Sans"/>
                <a:cs typeface="Hiragino Sans"/>
              </a:rPr>
              <a:t>KV 複製なし、長さ別グラフ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1000" y="4038600"/>
            <a:ext cx="2190750" cy="838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l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Mamba NKI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71750" y="4171950"/>
            <a:ext cx="656896" cy="5715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42946" y="4038600"/>
            <a:ext cx="2000250" cy="838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l"/>
            <a:r>
              <a:rPr sz="2600" b="1">
                <a:solidFill>
                  <a:srgbClr val="1B5E20"/>
                </a:solidFill>
                <a:latin typeface="Hiragino Sans"/>
                <a:ea typeface="Hiragino Sans"/>
                <a:cs typeface="Hiragino Sans"/>
              </a:rPr>
              <a:t>10 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19396" y="4038600"/>
            <a:ext cx="6582103" cy="838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l"/>
            <a:r>
              <a:rPr sz="2400" b="0">
                <a:solidFill>
                  <a:srgbClr val="55665C"/>
                </a:solidFill>
                <a:latin typeface="Hiragino Sans"/>
                <a:ea typeface="Hiragino Sans"/>
                <a:cs typeface="Hiragino Sans"/>
              </a:rPr>
              <a:t>畳み込み+SSM+正規化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1000" y="5067300"/>
            <a:ext cx="2190750" cy="838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l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射影 NKI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71750" y="5200650"/>
            <a:ext cx="591206" cy="5715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77256" y="5067300"/>
            <a:ext cx="2000250" cy="838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l"/>
            <a:r>
              <a:rPr sz="2600" b="1">
                <a:solidFill>
                  <a:srgbClr val="1B5E20"/>
                </a:solidFill>
                <a:latin typeface="Hiragino Sans"/>
                <a:ea typeface="Hiragino Sans"/>
                <a:cs typeface="Hiragino Sans"/>
              </a:rPr>
              <a:t>9 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53706" y="5067300"/>
            <a:ext cx="6647793" cy="838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l"/>
            <a:r>
              <a:rPr sz="2400" b="0">
                <a:solidFill>
                  <a:srgbClr val="55665C"/>
                </a:solidFill>
                <a:latin typeface="Hiragino Sans"/>
                <a:ea typeface="Hiragino Sans"/>
                <a:cs typeface="Hiragino Sans"/>
              </a:rPr>
              <a:t>x を固定し重みを流す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1000" y="6191250"/>
            <a:ext cx="11430000" cy="4762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0">
                <a:solidFill>
                  <a:srgbClr val="55665C"/>
                </a:solidFill>
                <a:latin typeface="Hiragino Sans"/>
                <a:ea typeface="Hiragino Sans"/>
                <a:cs typeface="Hiragino Sans"/>
              </a:rPr>
              <a:t>1 リクエスト、TP=4、実重み。同時処理対応後の最終版は 9.2 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1000" y="190500"/>
            <a:ext cx="11430000" cy="4762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l"/>
            <a:r>
              <a:rPr sz="3000" b="1">
                <a:solidFill>
                  <a:srgbClr val="1B5E20"/>
                </a:solidFill>
                <a:latin typeface="Hiragino Sans"/>
                <a:ea typeface="Hiragino Sans"/>
                <a:cs typeface="Hiragino Sans"/>
              </a:rPr>
              <a:t>NKI カーネルの作り方：2 コアで分け、DMA をまとめる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1000" y="952500"/>
            <a:ext cx="5619750" cy="66675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MoE decode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1000" y="1676400"/>
            <a:ext cx="5619750" cy="1524000"/>
          </a:xfrm>
          <a:prstGeom prst="roundRect">
            <a:avLst>
              <a:gd name="adj" fmla="val 12000"/>
            </a:avLst>
          </a:prstGeom>
          <a:solidFill>
            <a:srgbClr val="E8F5E9"/>
          </a:solidFill>
          <a:ln w="222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専門家番号で重みを直接 DMA</a:t>
            </a:r>
          </a:p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中間次元を 2 コアで半分ずつ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1250" y="952500"/>
            <a:ext cx="5619750" cy="66675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Mamba decode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1250" y="1676400"/>
            <a:ext cx="5619750" cy="1524000"/>
          </a:xfrm>
          <a:prstGeom prst="roundRect">
            <a:avLst>
              <a:gd name="adj" fmla="val 12000"/>
            </a:avLst>
          </a:prstGeom>
          <a:solidFill>
            <a:srgbClr val="E8F5E9"/>
          </a:solidFill>
          <a:ln w="222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1 コア = 1 グループで通信なし</a:t>
            </a:r>
          </a:p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全リクエストを 1 回の DMA 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1000" y="3429000"/>
            <a:ext cx="5619750" cy="66675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SSD prefill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1000" y="4152900"/>
            <a:ext cx="5619750" cy="1524000"/>
          </a:xfrm>
          <a:prstGeom prst="roundRect">
            <a:avLst>
              <a:gd name="adj" fmla="val 12000"/>
            </a:avLst>
          </a:prstGeom>
          <a:solidFill>
            <a:srgbClr val="E8F5E9"/>
          </a:solidFill>
          <a:ln w="222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128 トークンの塊で行列演算</a:t>
            </a:r>
          </a:p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指数は差を上限で切ってから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1250" y="3429000"/>
            <a:ext cx="5619750" cy="66675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行列ベクトル積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1250" y="4152900"/>
            <a:ext cx="5619750" cy="1524000"/>
          </a:xfrm>
          <a:prstGeom prst="roundRect">
            <a:avLst>
              <a:gd name="adj" fmla="val 12000"/>
            </a:avLst>
          </a:prstGeom>
          <a:solidFill>
            <a:srgbClr val="E8F5E9"/>
          </a:solidFill>
          <a:ln w="222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x を固定、重みを流す</a:t>
            </a:r>
          </a:p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列を 2 コアで分ける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1000" y="6096000"/>
            <a:ext cx="11430000" cy="571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600" b="1">
                <a:solidFill>
                  <a:srgbClr val="2E7D32"/>
                </a:solidFill>
                <a:latin typeface="Hiragino Sans"/>
                <a:ea typeface="Hiragino Sans"/>
                <a:cs typeface="Hiragino Sans"/>
              </a:rPr>
              <a:t>prefill は 800 → 2,600 トークン/秒（SSD を NKI に）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1000" y="190500"/>
            <a:ext cx="11430000" cy="4762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l"/>
            <a:r>
              <a:rPr sz="3000" b="1">
                <a:solidFill>
                  <a:srgbClr val="1B5E20"/>
                </a:solidFill>
                <a:latin typeface="Hiragino Sans"/>
                <a:ea typeface="Hiragino Sans"/>
                <a:cs typeface="Hiragino Sans"/>
              </a:rPr>
              <a:t>同時リクエスト：状態の行を「先頭 KV ブロック番号」で引く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1000" y="952500"/>
            <a:ext cx="4953000" cy="857250"/>
          </a:xfrm>
          <a:prstGeom prst="roundRect">
            <a:avLst>
              <a:gd name="adj" fmla="val 12000"/>
            </a:avLst>
          </a:prstGeom>
          <a:solidFill>
            <a:srgbClr val="F1F3F2"/>
          </a:solidFill>
          <a:ln w="22225">
            <a:solidFill>
              <a:srgbClr val="B0B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バッチの行は毎回入れ替わる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1000" y="2095500"/>
            <a:ext cx="1428750" cy="76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B0B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行 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05000" y="2095500"/>
            <a:ext cx="3429000" cy="76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B（ブロック 41）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3048000"/>
            <a:ext cx="1428750" cy="76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B0B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行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3048000"/>
            <a:ext cx="3429000" cy="76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A（ブロック 7）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1000" y="4000500"/>
            <a:ext cx="1428750" cy="76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B0B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行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05000" y="4000500"/>
            <a:ext cx="3429000" cy="762000"/>
          </a:xfrm>
          <a:prstGeom prst="roundRect">
            <a:avLst>
              <a:gd name="adj" fmla="val 12000"/>
            </a:avLst>
          </a:prstGeom>
          <a:solidFill>
            <a:srgbClr val="F1F3F2"/>
          </a:solidFill>
          <a:ln w="22225">
            <a:solidFill>
              <a:srgbClr val="B0B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詰め物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7500" y="952500"/>
            <a:ext cx="5143500" cy="857250"/>
          </a:xfrm>
          <a:prstGeom prst="roundRect">
            <a:avLst>
              <a:gd name="adj" fmla="val 12000"/>
            </a:avLst>
          </a:prstGeom>
          <a:solidFill>
            <a:srgbClr val="C8E6C9"/>
          </a:solidFill>
          <a:ln w="222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600" b="1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状態プール 2N+1 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67500" y="2095500"/>
            <a:ext cx="1428750" cy="7048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行 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1500" y="2095500"/>
            <a:ext cx="3619500" cy="704850"/>
          </a:xfrm>
          <a:prstGeom prst="roundRect">
            <a:avLst>
              <a:gd name="adj" fmla="val 12000"/>
            </a:avLst>
          </a:prstGeom>
          <a:solidFill>
            <a:srgbClr val="E8F5E9"/>
          </a:solidFill>
          <a:ln w="222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持ち主 7 → 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67500" y="2952750"/>
            <a:ext cx="1428750" cy="7048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行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1500" y="2952750"/>
            <a:ext cx="3619500" cy="704850"/>
          </a:xfrm>
          <a:prstGeom prst="roundRect">
            <a:avLst>
              <a:gd name="adj" fmla="val 12000"/>
            </a:avLst>
          </a:prstGeom>
          <a:solidFill>
            <a:srgbClr val="E8F5E9"/>
          </a:solidFill>
          <a:ln w="222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持ち主 41 → 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0" y="3810000"/>
            <a:ext cx="1428750" cy="7048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3810000"/>
            <a:ext cx="3619500" cy="7048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0" y="4667250"/>
            <a:ext cx="1428750" cy="7048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最後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1500" y="4667250"/>
            <a:ext cx="3619500" cy="7048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詰め物の書き先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34000" y="2476500"/>
            <a:ext cx="2857500" cy="5334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334000" y="2476500"/>
            <a:ext cx="2857500" cy="9525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334000" y="4381500"/>
            <a:ext cx="2857500" cy="714375"/>
          </a:xfrm>
          <a:prstGeom prst="line">
            <a:avLst/>
          </a:prstGeom>
          <a:ln w="38100">
            <a:solidFill>
              <a:srgbClr val="B0BEB5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81000" y="5619750"/>
            <a:ext cx="1143000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比較と最大値だけで行を引くので、1 つのグラフで毎ステップ回る</a:t>
            </a:r>
          </a:p>
          <a:p>
            <a:pPr algn="ctr"/>
            <a:r>
              <a:rPr sz="2600" b="0">
                <a:solidFill>
                  <a:srgbClr val="1F2A24"/>
                </a:solidFill>
                <a:latin typeface="Hiragino Sans"/>
                <a:ea typeface="Hiragino Sans"/>
                <a:cs typeface="Hiragino Sans"/>
              </a:rPr>
              <a:t>8 件同時で 91 → 216 トークン/秒、相手が変わっても出力は同一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